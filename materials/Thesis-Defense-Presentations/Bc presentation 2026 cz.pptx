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Dobrý den, dneska </a:t>
            </a:r>
            <a:r>
              <a:rPr lang="en-US"/>
              <a:t>prezentují</a:t>
            </a:r>
            <a:r>
              <a:rPr lang="en-US"/>
              <a:t> svoji bakalářskou práci, zaměřenou na klasifikaci falešných zpráv za použitím pokročilejších metod umělé inteligence</a:t>
            </a:r>
            <a:endParaRPr/>
          </a:p>
        </p:txBody>
      </p:sp>
      <p:sp>
        <p:nvSpPr>
          <p:cNvPr id="29" name="Google Shape;2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5a3354f518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5a3354f51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Tato práce je pokračováním práce jiného studenta, Jan Flajžíka, který použil jenom základní metody umělé inteligence, jeho výzkum se zastavil na použití konvolučních sití a LSTM. Dosáhl určité celkem dobré výsledky, a tato moje práce se snaží je vylepšit.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Bylo potřeba udělat rešerší  pokročilých metod, použit je na datasetech z předchozí práce, a porovnat předchozí výsledky s novějšími.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Jak tady je nanzačeno, tato práce zkouší použit transformery.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a3354f51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5a3354f51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Metodologie práce je následující, zhrnu to následujicím způsobem: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Udělat rešerší,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Vybrat pokročilejší metody,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Kouknout ještě jednou na datasety a proanalyzovat je z hlediska novějšími metodami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Implementovat sádu balíčku a pro provedení experimentu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Provést v jupyter noteboocich experimenty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Pak vizualizovat výsledky jako tabulky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Nakonec porovnat s předchozími výsledky a provést finální diskuzi co tato práce přinesla nového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6a60c1d2e2_0_5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6a60c1d2e2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Pár slov ohledně toho co jsou za datasety - jsou to 4 různé datasety, 3 anglické, jeden český, kde data jsou články s označením, jestli článek obsahuje falešnou zprávu nebo 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Ohledně pokročilejší analýzy datasetů, jelikož jsme prácovali s transformery, které mají omezený kontext, tj. omezenou délku vstupu, neboli maximální počet tokenů na vstupu, byla provedena analýza toho, jak články v datasetech jsou dlouhé z hlediská počku znaků a taky byly tokenizované různými tokenizerami příslušných modelů.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Většina zkoušených modelů mají délku kontextu maximálně 512 tokenů, GPT2 má maximální delků 1024 tokenů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f23286203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ef2328620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Pár slov ohledně toho co jsou za datasety - jsou to 4 různé datasety, 3 anglické, jeden český, kde data jsou články s označením, jestli článek obsahuje falešnou zprávu nebo 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Ohledně pokročilejší analýzy datasetů, jelikož jsme prácovali s transformery, které mají omezený kontext, tj. omezenou délku vstupu, neboli maximální počet tokenů na vstupu, byla provedena analýza toho, jak články v datasetech jsou dlouhé z hlediská počku znaků a taky byly tokenizované různými tokenizerami příslušných modelů.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Většina zkoušených modelů mají délku kontextu maximálně 512 tokenů, GPT2 má maximální delků 1024 tokenů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a3354f518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a3354f51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f23286203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f2328620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f23286203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f2328620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f23286203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f2328620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f23286203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f2328620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a60c1d2e2_0_5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a60c1d2e2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Použil jsem python jako hlavní a jediný programovací jazyk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a60c1d2e2_0_5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a60c1d2e2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Důležité knihovný byly knihovny s implementaci transformerů od hugging face, což je dneska nejvýznamnějí framework pro použití předtrenovaných modelů.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a60c1d2e2_0_5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a60c1d2e2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Dále byly použité další pomocné knihovny co se často vyskytuji v machine learningu a data science vůbec.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Důležité z toho je, že jako backend pro modely byl použit pytorch a ještě jsme využili NLTK knihovnu pro práci s přirozeným textem.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a60c1d2e2_0_5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a60c1d2e2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Tady poznámka k trénování: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Brali jsme předtrénované modely z hugging face, jako BERT, roberta, distillbert a GPT1 a 2, dotrénovali jsme to na našich datech, a všechny výsledky a mezivysledky trénování a evaluace jsme ukladali a logovali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a60c1d2e2_0_6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a60c1d2e2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to v frameworku MLflow, který poskytuje nástroje pro uložení a mezivýsledků a jejich prezentaci v pohodlném nastavitelném dashboardu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a60c1d2e2_0_6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a60c1d2e2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Nejaky pomocne soubory, sablony, obrazky, logy jsou vynechany, tady je neuvidite, pochopitlene ty bych potreboval jeste dalsi slide abych je mohl zobrazit taky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a3354f518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a3354f51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Presouvame se k diskuzi ohledne experimentu a jejich vysledky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Takhle vypada zmineny pred minule MLflow, ktery umoznuje nastavit pohodnly dashboard a porovnavat modely. Je neuveritelne uzitecny k pochopeni chovani modelu a jejich pripadne debugovani, protoze zaznamenany jsou vetsina udaju.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a3354f518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a3354f51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Krome MLFlow vysledky jsou reprezentovany pomoci tabulek a dalsich vizualizaci, standardne confusion matrix, ROC Curve s AUC skorem, vcetne tabulek s vysledky a hyperparametry pro nejlepsi modely.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f23286203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f2328620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Krome MLFlow vysledky jsou reprezentovany pomoci tabulek a dalsich vizualizaci, standardne confusion matrix, ROC Curve s AUC skorem, vcetne tabulek s vysledky a hyperparametry pro nejlepsi modely.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a3354f518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a3354f51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f2328620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f2328620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f23286203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f2328620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f23286203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ef2328620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f23286203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f2328620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5a3354f518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5a3354f51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Nakonec, provedli jsme experimenty s pokročilymi modely, dostali jsme vysledky, porovnali jsme je, analyzovali jsme proc vysledky byly takove jake jsou, navrhli jsme způsob jak ty vysledky zlepši, a aktualni implementace umoznuje velice jednoduche rozsireni na jakekoliv modely, protoze vyuziva abstraktni tridy a dedeni.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a3354f518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5a3354f51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vodní snímek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9" l="0" r="0" t="-9"/>
          <a:stretch/>
        </p:blipFill>
        <p:spPr>
          <a:xfrm>
            <a:off x="0" y="0"/>
            <a:ext cx="10076688" cy="7557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1080000" y="1800005"/>
            <a:ext cx="7736694" cy="144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80000" y="3441736"/>
            <a:ext cx="7736693" cy="17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1" y="270000"/>
            <a:ext cx="1773814" cy="86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Úvodní snímek">
  <p:cSld name="1_Úvodní sníme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-10" l="0" r="0" t="-10"/>
          <a:stretch/>
        </p:blipFill>
        <p:spPr>
          <a:xfrm>
            <a:off x="0" y="1"/>
            <a:ext cx="10076688" cy="755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2" y="270000"/>
            <a:ext cx="1770611" cy="8634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ctrTitle"/>
          </p:nvPr>
        </p:nvSpPr>
        <p:spPr>
          <a:xfrm>
            <a:off x="1080000" y="1800005"/>
            <a:ext cx="7736694" cy="144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080000" y="3441736"/>
            <a:ext cx="7736693" cy="17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obsah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080000" y="1800000"/>
            <a:ext cx="7794000" cy="1087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080000" y="3059766"/>
            <a:ext cx="77940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obrázek">
  <p:cSld name="Nadpis a obráze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177200" y="1800001"/>
            <a:ext cx="7696800" cy="4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ázek">
  <p:cSld name="Obráze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2067643" y="368300"/>
            <a:ext cx="6888707" cy="12284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270000" y="270000"/>
            <a:ext cx="8604000" cy="6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80000" y="1440000"/>
            <a:ext cx="779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80000" y="2880000"/>
            <a:ext cx="77940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70002" y="270000"/>
            <a:ext cx="1770611" cy="86348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2">
          <p15:clr>
            <a:srgbClr val="F26B43"/>
          </p15:clr>
        </p15:guide>
        <p15:guide id="2" pos="131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mlflow.org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10" Type="http://schemas.openxmlformats.org/officeDocument/2006/relationships/image" Target="../media/image22.png"/><Relationship Id="rId9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ctrTitle"/>
          </p:nvPr>
        </p:nvSpPr>
        <p:spPr>
          <a:xfrm>
            <a:off x="1080000" y="1800005"/>
            <a:ext cx="7736694" cy="144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3000"/>
              <a:t>POKROČILÉ METODY KLASIFIKACE FAKE NEWS S VYUŽITÍM VELKÝCH JAZYKOVÝCH MODELŮ</a:t>
            </a:r>
            <a:endParaRPr sz="3000"/>
          </a:p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1080000" y="3441736"/>
            <a:ext cx="7736693" cy="17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Nikita Bardatskii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1080000" y="1800000"/>
            <a:ext cx="7794000" cy="108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Cíle</a:t>
            </a:r>
            <a:endParaRPr/>
          </a:p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1080000" y="3059766"/>
            <a:ext cx="7794000" cy="352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Seznámit se s předchozí prací Jana Flajžíka zaměřenou na detekci falešných zpráv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Prozkoumat nové metody zpracování přirozeného jazyka (NLP) pro zlepšení klasifikace na poskytnutých datových sadách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Provést experimenty s pokročilými NLP modely (BERT, GPT-2 apod.)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/>
              <a:t>Porovnat dosažené výsledky s předchozí prací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1080000" y="2649241"/>
            <a:ext cx="7794000" cy="352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Prostudovat nejnovější odborné články zaměřené na detekci falešných zpráv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Vybrat pokročilejší metody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Provést experimenty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Porovnat výsledky s předchozí prací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/>
              <a:t>Zhodnotit vlastní přínos oproti předchozí práci a navrhnout možná zlepšení</a:t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1080000" y="1800000"/>
            <a:ext cx="7794000" cy="108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Metodika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Analýza Datových Sad</a:t>
            </a:r>
            <a:endParaRPr/>
          </a:p>
        </p:txBody>
      </p:sp>
      <p:pic>
        <p:nvPicPr>
          <p:cNvPr id="50" name="Google Shape;50;p10" title="bert_token_length_distribution.png"/>
          <p:cNvPicPr preferRelativeResize="0"/>
          <p:nvPr/>
        </p:nvPicPr>
        <p:blipFill rotWithShape="1">
          <a:blip r:embed="rId3">
            <a:alphaModFix/>
          </a:blip>
          <a:srcRect b="47762" l="50045" r="0" t="3640"/>
          <a:stretch/>
        </p:blipFill>
        <p:spPr>
          <a:xfrm>
            <a:off x="4988600" y="3757950"/>
            <a:ext cx="3647800" cy="266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600" y="1182028"/>
            <a:ext cx="3812900" cy="238304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0"/>
          <p:cNvSpPr txBox="1"/>
          <p:nvPr/>
        </p:nvSpPr>
        <p:spPr>
          <a:xfrm>
            <a:off x="588200" y="1693888"/>
            <a:ext cx="44004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3 anglické, 1 český dataset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Relativně dlouhé články, pouze jeden dataset má </a:t>
            </a:r>
            <a:r>
              <a:rPr lang="en-US" sz="2600">
                <a:solidFill>
                  <a:schemeClr val="dk1"/>
                </a:solidFill>
              </a:rPr>
              <a:t>krátké</a:t>
            </a:r>
            <a:r>
              <a:rPr lang="en-US" sz="2600">
                <a:solidFill>
                  <a:schemeClr val="dk1"/>
                </a:solidFill>
              </a:rPr>
              <a:t> články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Rozšířená vizualizace dat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Analýza tokenizace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Analýza Datových Sad</a:t>
            </a:r>
            <a:endParaRPr/>
          </a:p>
        </p:txBody>
      </p:sp>
      <p:pic>
        <p:nvPicPr>
          <p:cNvPr id="58" name="Google Shape;58;p11" title="bert_token_length_distribution.png"/>
          <p:cNvPicPr preferRelativeResize="0"/>
          <p:nvPr/>
        </p:nvPicPr>
        <p:blipFill rotWithShape="1">
          <a:blip r:embed="rId3">
            <a:alphaModFix/>
          </a:blip>
          <a:srcRect b="47762" l="50045" r="0" t="3640"/>
          <a:stretch/>
        </p:blipFill>
        <p:spPr>
          <a:xfrm>
            <a:off x="4988600" y="3757950"/>
            <a:ext cx="3647800" cy="266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600" y="1182028"/>
            <a:ext cx="3812900" cy="238304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1"/>
          <p:cNvSpPr txBox="1"/>
          <p:nvPr/>
        </p:nvSpPr>
        <p:spPr>
          <a:xfrm>
            <a:off x="588200" y="1693888"/>
            <a:ext cx="44004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3 anglické, 1 český dataset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Relativně dlouhé články, pouze jeden dataset má </a:t>
            </a:r>
            <a:r>
              <a:rPr lang="en-US" sz="2600">
                <a:solidFill>
                  <a:schemeClr val="dk1"/>
                </a:solidFill>
              </a:rPr>
              <a:t>krátké</a:t>
            </a:r>
            <a:r>
              <a:rPr lang="en-US" sz="2600">
                <a:solidFill>
                  <a:schemeClr val="dk1"/>
                </a:solidFill>
              </a:rPr>
              <a:t> články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Rozšířená vizualizace dat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Analýza tokenizace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61" name="Google Shape;61;p11"/>
          <p:cNvSpPr txBox="1"/>
          <p:nvPr/>
        </p:nvSpPr>
        <p:spPr>
          <a:xfrm>
            <a:off x="266950" y="5871225"/>
            <a:ext cx="5184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900">
                <a:solidFill>
                  <a:srgbClr val="FF0000"/>
                </a:solidFill>
              </a:rPr>
              <a:t>*</a:t>
            </a:r>
            <a:r>
              <a:rPr lang="en-US" sz="1900">
                <a:solidFill>
                  <a:schemeClr val="dk1"/>
                </a:solidFill>
              </a:rPr>
              <a:t> Datové sady byly převzaty z původní bakalářské práce.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Použité modely</a:t>
            </a:r>
            <a:endParaRPr/>
          </a:p>
        </p:txBody>
      </p:sp>
      <p:sp>
        <p:nvSpPr>
          <p:cNvPr id="67" name="Google Shape;67;p12"/>
          <p:cNvSpPr txBox="1"/>
          <p:nvPr/>
        </p:nvSpPr>
        <p:spPr>
          <a:xfrm>
            <a:off x="1237600" y="2309975"/>
            <a:ext cx="69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1606950" y="2261375"/>
            <a:ext cx="5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58150" y="1276025"/>
            <a:ext cx="7902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BERT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Encoderová transformerová architektura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Využívá obousměrný kontext (levý i pravý)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Referenční model pro klasifikaci textu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Použité modely</a:t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1237600" y="2309975"/>
            <a:ext cx="69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606950" y="2261375"/>
            <a:ext cx="5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658150" y="1276025"/>
            <a:ext cx="7902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BERT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Encoderová transformerová architektura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Využívá obousměrný kontext (levý i pravý)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Referenční model pro klasifikaci textu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DistilBERT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Zjednodušená verze BERTu vytvořená metodou knowledge distillation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Přibližně o 40 % menší a o 60 % rychlejší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Zachovává většinu výkonnosti BERTu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Použité modely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1237600" y="2309975"/>
            <a:ext cx="69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1606950" y="2261375"/>
            <a:ext cx="5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58150" y="1276025"/>
            <a:ext cx="79020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BERT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Encoderová transformerová architektura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Využívá obousměrný kontext (levý i pravý)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Referenční model pro klasifikaci textu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DistilBERT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Zjednodušená verze BERTu vytvořená metodou knowledge distillation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Přibližně o 40 % menší a o 60 % rychlejší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Zachovává většinu výkonnosti BERTu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RoBERTa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Optimalizovaná varianta BERTu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Trénována na větším množství dat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Používá techniky pro zlepšení robustností modelu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Použité modely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1237600" y="2309975"/>
            <a:ext cx="69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606950" y="2261375"/>
            <a:ext cx="5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658150" y="1276025"/>
            <a:ext cx="7902000" cy="6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BERT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Encoderová transformerová architektura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Využívá obousměrný kontext (levý i pravý)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Referenční model pro klasifikaci textu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DistilBERT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Zjednodušená verze BERTu vytvořená metodou knowledge distillation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Přibližně o 40 % menší a o 60 % rychlejší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Zachovává většinu výkonnosti BERTu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RoBERTa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Optimalizovaná varianta BERTu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Trénována na větším množství dat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Používá techniky pro zlepšení robustností modelu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GPT-2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Decoderová transformerová architektura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Predikuje další token na základě předchozího kontextu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Primárně určen pro generování textu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Implementace</a:t>
            </a:r>
            <a:endParaRPr/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Implementace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 rotWithShape="1">
          <a:blip r:embed="rId4">
            <a:alphaModFix/>
          </a:blip>
          <a:srcRect b="38682" l="33045" r="31669" t="14925"/>
          <a:stretch/>
        </p:blipFill>
        <p:spPr>
          <a:xfrm>
            <a:off x="3588088" y="1633362"/>
            <a:ext cx="1555026" cy="136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2587213" y="19083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Implementace</a:t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/>
          </a:blip>
          <a:srcRect b="38682" l="33045" r="31669" t="14925"/>
          <a:stretch/>
        </p:blipFill>
        <p:spPr>
          <a:xfrm>
            <a:off x="3588088" y="1633362"/>
            <a:ext cx="1555026" cy="136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5245788" y="19686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2587213" y="19083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6297538" y="1559700"/>
            <a:ext cx="2173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Standardní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ML a DS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nástroje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(scikit, pytorch, scipy, nltk)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Implementace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 rotWithShape="1">
          <a:blip r:embed="rId4">
            <a:alphaModFix/>
          </a:blip>
          <a:srcRect b="38682" l="33045" r="31669" t="14925"/>
          <a:stretch/>
        </p:blipFill>
        <p:spPr>
          <a:xfrm>
            <a:off x="3588088" y="1633362"/>
            <a:ext cx="1555026" cy="136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5245788" y="19686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2587213" y="19083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6297538" y="1559700"/>
            <a:ext cx="2173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Standardní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ML a DS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nástroje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(scikit, pytorch, scipy, nltk)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79001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4" name="Google Shape;134;p20"/>
          <p:cNvSpPr/>
          <p:nvPr/>
        </p:nvSpPr>
        <p:spPr>
          <a:xfrm flipH="1">
            <a:off x="4485047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35" name="Google Shape;135;p20"/>
          <p:cNvCxnSpPr/>
          <p:nvPr/>
        </p:nvCxnSpPr>
        <p:spPr>
          <a:xfrm>
            <a:off x="4495575" y="3518718"/>
            <a:ext cx="8400" cy="40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0"/>
          <p:cNvSpPr txBox="1"/>
          <p:nvPr/>
        </p:nvSpPr>
        <p:spPr>
          <a:xfrm>
            <a:off x="3132075" y="3834275"/>
            <a:ext cx="2737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Ukládání a zaznamenávání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Implementace</a:t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 rotWithShape="1">
          <a:blip r:embed="rId4">
            <a:alphaModFix/>
          </a:blip>
          <a:srcRect b="38682" l="33045" r="31669" t="14925"/>
          <a:stretch/>
        </p:blipFill>
        <p:spPr>
          <a:xfrm>
            <a:off x="3588088" y="1633362"/>
            <a:ext cx="1555026" cy="136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5245788" y="19686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2587213" y="19083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6297538" y="1559700"/>
            <a:ext cx="2173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Standardní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ML a DS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nástroje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(scikit, pytorch, scipy, nltk)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479001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8" name="Google Shape;148;p21"/>
          <p:cNvSpPr/>
          <p:nvPr/>
        </p:nvSpPr>
        <p:spPr>
          <a:xfrm flipH="1">
            <a:off x="4485047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49" name="Google Shape;149;p21"/>
          <p:cNvCxnSpPr/>
          <p:nvPr/>
        </p:nvCxnSpPr>
        <p:spPr>
          <a:xfrm>
            <a:off x="4495575" y="3518718"/>
            <a:ext cx="8400" cy="40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0" name="Google Shape;15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5875" y="5046667"/>
            <a:ext cx="1087800" cy="10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/>
        </p:nvSpPr>
        <p:spPr>
          <a:xfrm>
            <a:off x="3210975" y="6098325"/>
            <a:ext cx="25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hlink"/>
                </a:solidFill>
                <a:uFill>
                  <a:noFill/>
                </a:uFill>
                <a:hlinkClick r:id="rId6"/>
              </a:rPr>
              <a:t>MLflow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3132075" y="3834275"/>
            <a:ext cx="27372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Ukládání a zaznamenávání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cxnSp>
        <p:nvCxnSpPr>
          <p:cNvPr id="153" name="Google Shape;153;p21"/>
          <p:cNvCxnSpPr/>
          <p:nvPr/>
        </p:nvCxnSpPr>
        <p:spPr>
          <a:xfrm>
            <a:off x="4497371" y="4596546"/>
            <a:ext cx="6600" cy="37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7389" y="1359446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Implementace</a:t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2778371" y="1000750"/>
            <a:ext cx="78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sources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61" name="Google Shape;161;p22"/>
          <p:cNvGrpSpPr/>
          <p:nvPr/>
        </p:nvGrpSpPr>
        <p:grpSpPr>
          <a:xfrm>
            <a:off x="7349969" y="1337609"/>
            <a:ext cx="779916" cy="779916"/>
            <a:chOff x="7024176" y="2229808"/>
            <a:chExt cx="1270636" cy="1270636"/>
          </a:xfrm>
        </p:grpSpPr>
        <p:pic>
          <p:nvPicPr>
            <p:cNvPr id="162" name="Google Shape;162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65990" y="3058829"/>
              <a:ext cx="214761" cy="214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2"/>
            <p:cNvPicPr preferRelativeResize="0"/>
            <p:nvPr/>
          </p:nvPicPr>
          <p:blipFill rotWithShape="1">
            <a:blip r:embed="rId3">
              <a:alphaModFix/>
            </a:blip>
            <a:srcRect b="121130" l="0" r="0" t="-121130"/>
            <a:stretch/>
          </p:blipFill>
          <p:spPr>
            <a:xfrm>
              <a:off x="7024176" y="2229808"/>
              <a:ext cx="1270636" cy="1270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363" y="1252823"/>
            <a:ext cx="779876" cy="779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 txBox="1"/>
          <p:nvPr/>
        </p:nvSpPr>
        <p:spPr>
          <a:xfrm>
            <a:off x="7270539" y="1070938"/>
            <a:ext cx="95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notebooks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66" name="Google Shape;166;p22"/>
          <p:cNvGrpSpPr/>
          <p:nvPr/>
        </p:nvGrpSpPr>
        <p:grpSpPr>
          <a:xfrm>
            <a:off x="131036" y="2241856"/>
            <a:ext cx="1068507" cy="1032108"/>
            <a:chOff x="512975" y="3263775"/>
            <a:chExt cx="1333800" cy="1288363"/>
          </a:xfrm>
        </p:grpSpPr>
        <p:pic>
          <p:nvPicPr>
            <p:cNvPr id="167" name="Google Shape;167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3109" y="3578552"/>
              <a:ext cx="973586" cy="973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2"/>
            <p:cNvSpPr txBox="1"/>
            <p:nvPr/>
          </p:nvSpPr>
          <p:spPr>
            <a:xfrm>
              <a:off x="512975" y="3263775"/>
              <a:ext cx="13338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</a:rPr>
                <a:t>experiments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pic>
        <p:nvPicPr>
          <p:cNvPr id="169" name="Google Shape;1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396" y="2493931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2547198" y="2241750"/>
            <a:ext cx="12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local_datasets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71" name="Google Shape;171;p22"/>
          <p:cNvGrpSpPr/>
          <p:nvPr/>
        </p:nvGrpSpPr>
        <p:grpSpPr>
          <a:xfrm>
            <a:off x="5388405" y="2241846"/>
            <a:ext cx="1068507" cy="1032118"/>
            <a:chOff x="4220900" y="3263763"/>
            <a:chExt cx="1333800" cy="1288376"/>
          </a:xfrm>
        </p:grpSpPr>
        <p:pic>
          <p:nvPicPr>
            <p:cNvPr id="172" name="Google Shape;172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01009" y="3578552"/>
              <a:ext cx="973586" cy="973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2"/>
            <p:cNvSpPr txBox="1"/>
            <p:nvPr/>
          </p:nvSpPr>
          <p:spPr>
            <a:xfrm>
              <a:off x="4220900" y="3263763"/>
              <a:ext cx="13338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</a:rPr>
                <a:t>models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cxnSp>
        <p:nvCxnSpPr>
          <p:cNvPr id="174" name="Google Shape;174;p22"/>
          <p:cNvCxnSpPr>
            <a:stCxn id="164" idx="2"/>
            <a:endCxn id="173" idx="0"/>
          </p:cNvCxnSpPr>
          <p:nvPr/>
        </p:nvCxnSpPr>
        <p:spPr>
          <a:xfrm flipH="1" rot="-5400000">
            <a:off x="4440901" y="760099"/>
            <a:ext cx="209100" cy="2754300"/>
          </a:xfrm>
          <a:prstGeom prst="bentConnector3">
            <a:avLst>
              <a:gd fmla="val 5001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2"/>
          <p:cNvCxnSpPr>
            <a:stCxn id="164" idx="2"/>
            <a:endCxn id="168" idx="0"/>
          </p:cNvCxnSpPr>
          <p:nvPr/>
        </p:nvCxnSpPr>
        <p:spPr>
          <a:xfrm rot="5400000">
            <a:off x="1812301" y="885799"/>
            <a:ext cx="209100" cy="2502900"/>
          </a:xfrm>
          <a:prstGeom prst="bentConnector3">
            <a:avLst>
              <a:gd fmla="val 5001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2"/>
          <p:cNvCxnSpPr>
            <a:stCxn id="164" idx="2"/>
            <a:endCxn id="170" idx="0"/>
          </p:cNvCxnSpPr>
          <p:nvPr/>
        </p:nvCxnSpPr>
        <p:spPr>
          <a:xfrm flipH="1" rot="-5400000">
            <a:off x="3064051" y="2136949"/>
            <a:ext cx="209100" cy="6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7" name="Google Shape;177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7659654" y="1855856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121130" l="0" r="0" t="-121130"/>
          <a:stretch/>
        </p:blipFill>
        <p:spPr>
          <a:xfrm>
            <a:off x="2778239" y="2472089"/>
            <a:ext cx="779916" cy="779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3015581" y="2978284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246" y="3784156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1853936" y="3531979"/>
            <a:ext cx="10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data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182" name="Google Shape;182;p22"/>
          <p:cNvGrpSpPr/>
          <p:nvPr/>
        </p:nvGrpSpPr>
        <p:grpSpPr>
          <a:xfrm>
            <a:off x="1998264" y="3759227"/>
            <a:ext cx="779916" cy="779916"/>
            <a:chOff x="7024176" y="2229808"/>
            <a:chExt cx="1270636" cy="1270636"/>
          </a:xfrm>
        </p:grpSpPr>
        <p:pic>
          <p:nvPicPr>
            <p:cNvPr id="183" name="Google Shape;18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83849" y="3058829"/>
              <a:ext cx="214761" cy="214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2"/>
            <p:cNvPicPr preferRelativeResize="0"/>
            <p:nvPr/>
          </p:nvPicPr>
          <p:blipFill rotWithShape="1">
            <a:blip r:embed="rId3">
              <a:alphaModFix/>
            </a:blip>
            <a:srcRect b="121130" l="0" r="0" t="-121130"/>
            <a:stretch/>
          </p:blipFill>
          <p:spPr>
            <a:xfrm>
              <a:off x="7024176" y="2229808"/>
              <a:ext cx="1270636" cy="1270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5" name="Google Shape;18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553" y="3762253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3714732" y="3510222"/>
            <a:ext cx="135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preprocessing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 rotWithShape="1">
          <a:blip r:embed="rId3">
            <a:alphaModFix/>
          </a:blip>
          <a:srcRect b="121130" l="0" r="0" t="-121130"/>
          <a:stretch/>
        </p:blipFill>
        <p:spPr>
          <a:xfrm>
            <a:off x="4004396" y="3977311"/>
            <a:ext cx="779916" cy="779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4229681" y="4242367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2999202" y="1739620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5731781" y="2978484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481031" y="2978484"/>
            <a:ext cx="131826" cy="1325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22"/>
          <p:cNvCxnSpPr>
            <a:stCxn id="178" idx="2"/>
            <a:endCxn id="186" idx="0"/>
          </p:cNvCxnSpPr>
          <p:nvPr/>
        </p:nvCxnSpPr>
        <p:spPr>
          <a:xfrm flipH="1" rot="-5400000">
            <a:off x="3652246" y="2767954"/>
            <a:ext cx="258300" cy="1226400"/>
          </a:xfrm>
          <a:prstGeom prst="bentConnector3">
            <a:avLst>
              <a:gd fmla="val 3969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2"/>
          <p:cNvCxnSpPr>
            <a:stCxn id="178" idx="2"/>
            <a:endCxn id="181" idx="0"/>
          </p:cNvCxnSpPr>
          <p:nvPr/>
        </p:nvCxnSpPr>
        <p:spPr>
          <a:xfrm rot="5400000">
            <a:off x="2638246" y="3001954"/>
            <a:ext cx="279900" cy="780000"/>
          </a:xfrm>
          <a:prstGeom prst="bentConnector3">
            <a:avLst>
              <a:gd fmla="val 3662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2"/>
          <p:cNvSpPr txBox="1"/>
          <p:nvPr/>
        </p:nvSpPr>
        <p:spPr>
          <a:xfrm>
            <a:off x="7294664" y="2115453"/>
            <a:ext cx="1870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bert_base_uncased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results.ipynb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training.ipynb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distillibert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results.ipynb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training.ipynb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openai_gpt1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results.ipynb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training.ipynb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openai_gpt2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results.ipynb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training.ipynb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results.ipynb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roberta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results.ipynb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training.ipynb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run_all_training.ipynb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tables_templates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└── utils.py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202983" y="3173007"/>
            <a:ext cx="1722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experiment.py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metrics.py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utils.py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└── visualizations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├── flajzik_classification_2024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│   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│   └── utils.py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├── plots.py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├── tables.py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└── utils.py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3558175" y="2494850"/>
            <a:ext cx="124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data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data_classes.py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dataset.py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└── preprocessing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942725" y="451000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EUvsDisinfo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euvsdisinfo.csv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euvsdisinfo.ipynb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ISOT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isot.csv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isot.ipynb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ReCOVery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recovery.csv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recovery.ipynb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cz_dataset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cz_dataset.csv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cz_dataset.ipynb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└── utils.py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3919050" y="4436100"/>
            <a:ext cx="3000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base.py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cleaning.py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encoders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base.py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encoders.py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flajzik_classification_2024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├── czech_stemmer.py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│   └── preprocessing_functions.py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pipelines.py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tokenization.py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transformations.py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└── utils.py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5472800" y="325312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base.py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└── transformers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├── base.py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├── bert_based_models.py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├── callbacks.py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├── openai_gpt_models.py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   └── trainer.py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3456900" y="1242563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__init__.py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experiments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local_datasets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├── models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└── utils.py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922000" y="6468000"/>
            <a:ext cx="69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</a:rPr>
              <a:t>*</a:t>
            </a:r>
            <a:r>
              <a:rPr b="1" lang="en-US" sz="1200">
                <a:solidFill>
                  <a:schemeClr val="dk1"/>
                </a:solidFill>
              </a:rPr>
              <a:t> assets, images, templates and helper files are excluded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Experimenty a monitorování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výsledků</a:t>
            </a:r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962" y="1410200"/>
            <a:ext cx="8406076" cy="508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Prezentace</a:t>
            </a:r>
            <a:r>
              <a:rPr lang="en-US"/>
              <a:t> výsledků</a:t>
            </a:r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562" y="3868894"/>
            <a:ext cx="2732550" cy="226393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1462950" y="3013000"/>
            <a:ext cx="621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Výsledky pro nejlepší model BERT: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1498750" y="1402163"/>
            <a:ext cx="614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Výsledky pro ReCOVery Dataset: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16" name="Google Shape;21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3247" y="3819075"/>
            <a:ext cx="2968253" cy="22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025" y="3690950"/>
            <a:ext cx="1915400" cy="170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9473" y="5527173"/>
            <a:ext cx="1858501" cy="60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3726310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Confusion matrix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7107047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R</a:t>
            </a:r>
            <a:r>
              <a:rPr lang="en-US" sz="1000">
                <a:solidFill>
                  <a:schemeClr val="dk1"/>
                </a:solidFill>
              </a:rPr>
              <a:t>O</a:t>
            </a:r>
            <a:r>
              <a:rPr lang="en-US" sz="1000">
                <a:solidFill>
                  <a:schemeClr val="dk1"/>
                </a:solidFill>
              </a:rPr>
              <a:t>C Curve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21" name="Google Shape;22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66451" y="1984025"/>
            <a:ext cx="4465485" cy="9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Prezentace výsledků</a:t>
            </a:r>
            <a:endParaRPr/>
          </a:p>
        </p:txBody>
      </p:sp>
      <p:pic>
        <p:nvPicPr>
          <p:cNvPr id="227" name="Google Shape;2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562" y="3868894"/>
            <a:ext cx="2732550" cy="226393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1462950" y="3013000"/>
            <a:ext cx="621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Výsledky pro nejlepší model BERT: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1498750" y="1402163"/>
            <a:ext cx="614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Výsledky pro ReCOVery Dataset: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30" name="Google Shape;2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3247" y="3819075"/>
            <a:ext cx="2968253" cy="22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025" y="3690950"/>
            <a:ext cx="1915400" cy="170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9473" y="5527173"/>
            <a:ext cx="1858501" cy="60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3726310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Confusion matrix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7107047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ROC Curve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35" name="Google Shape;23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66451" y="1984025"/>
            <a:ext cx="4465485" cy="9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979463" y="6299575"/>
            <a:ext cx="69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0000"/>
                </a:solidFill>
              </a:rPr>
              <a:t>*</a:t>
            </a:r>
            <a:r>
              <a:rPr b="1" lang="en-US" sz="1200">
                <a:solidFill>
                  <a:schemeClr val="dk1"/>
                </a:solidFill>
              </a:rPr>
              <a:t> tabulky hyperparametrů, ROC Křivka a Matice záměn jsou součástí zdrojových kódů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Porovnání s předchozí prací</a:t>
            </a:r>
            <a:endParaRPr/>
          </a:p>
        </p:txBody>
      </p:sp>
      <p:pic>
        <p:nvPicPr>
          <p:cNvPr id="242" name="Google Shape;2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25" y="2026325"/>
            <a:ext cx="2828024" cy="7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 txBox="1"/>
          <p:nvPr/>
        </p:nvSpPr>
        <p:spPr>
          <a:xfrm>
            <a:off x="389725" y="1492325"/>
            <a:ext cx="93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ISOT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5064525" y="1492325"/>
            <a:ext cx="15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ReCOVery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389725" y="3847650"/>
            <a:ext cx="15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EUvsDisinfo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5064525" y="3847650"/>
            <a:ext cx="19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Czech Dataset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47" name="Google Shape;2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5925" y="4386670"/>
            <a:ext cx="2828026" cy="759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75" y="4388875"/>
            <a:ext cx="2801323" cy="7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3025" y="2026326"/>
            <a:ext cx="2813828" cy="7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6963" y="2957304"/>
            <a:ext cx="4032323" cy="84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3075" y="5357600"/>
            <a:ext cx="4003448" cy="82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75925" y="5349376"/>
            <a:ext cx="4046775" cy="83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79375" y="2952700"/>
            <a:ext cx="4003449" cy="84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Porovnání s předchozí prací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983225" y="1438325"/>
            <a:ext cx="70758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ISOT</a:t>
            </a:r>
            <a:r>
              <a:rPr lang="en-US" sz="2000">
                <a:solidFill>
                  <a:schemeClr val="dk1"/>
                </a:solidFill>
              </a:rPr>
              <a:t>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90,5% oprotí 83,5%</a:t>
            </a:r>
            <a:r>
              <a:rPr lang="en-US" sz="2000">
                <a:solidFill>
                  <a:schemeClr val="dk1"/>
                </a:solidFill>
              </a:rPr>
              <a:t> u Naive Bayes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Porovnání s předchozí prací</a:t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983225" y="1438325"/>
            <a:ext cx="70758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ISOT</a:t>
            </a:r>
            <a:r>
              <a:rPr lang="en-US" sz="2000">
                <a:solidFill>
                  <a:schemeClr val="dk1"/>
                </a:solidFill>
              </a:rPr>
              <a:t>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90,5% oprotí 83,5%</a:t>
            </a:r>
            <a:r>
              <a:rPr lang="en-US" sz="2000">
                <a:solidFill>
                  <a:schemeClr val="dk1"/>
                </a:solidFill>
              </a:rPr>
              <a:t> u Naive Bayes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ReCOVery</a:t>
            </a:r>
            <a:r>
              <a:rPr lang="en-US" sz="2000">
                <a:solidFill>
                  <a:schemeClr val="dk1"/>
                </a:solidFill>
              </a:rPr>
              <a:t>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99,5% oporti 97%</a:t>
            </a:r>
            <a:r>
              <a:rPr lang="en-US" sz="2000">
                <a:solidFill>
                  <a:schemeClr val="dk1"/>
                </a:solidFill>
              </a:rPr>
              <a:t> u CNN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Porovnání s předchozí prací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983225" y="1438325"/>
            <a:ext cx="70758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ISOT</a:t>
            </a:r>
            <a:r>
              <a:rPr lang="en-US" sz="2000">
                <a:solidFill>
                  <a:schemeClr val="dk1"/>
                </a:solidFill>
              </a:rPr>
              <a:t>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90,5% oprotí 83,5%</a:t>
            </a:r>
            <a:r>
              <a:rPr lang="en-US" sz="2000">
                <a:solidFill>
                  <a:schemeClr val="dk1"/>
                </a:solidFill>
              </a:rPr>
              <a:t> u Naive Bayes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ReCOVery</a:t>
            </a:r>
            <a:r>
              <a:rPr lang="en-US" sz="2000">
                <a:solidFill>
                  <a:schemeClr val="dk1"/>
                </a:solidFill>
              </a:rPr>
              <a:t>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99,5% oporti 97%</a:t>
            </a:r>
            <a:r>
              <a:rPr lang="en-US" sz="2000">
                <a:solidFill>
                  <a:schemeClr val="dk1"/>
                </a:solidFill>
              </a:rPr>
              <a:t> u CNN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EUvsDisinfo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100% oproti 95,1%</a:t>
            </a:r>
            <a:r>
              <a:rPr lang="en-US" sz="2000">
                <a:solidFill>
                  <a:schemeClr val="dk1"/>
                </a:solidFill>
              </a:rPr>
              <a:t> u LSTM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Porovnání s předchozí prací</a:t>
            </a:r>
            <a:endParaRPr/>
          </a:p>
        </p:txBody>
      </p:sp>
      <p:sp>
        <p:nvSpPr>
          <p:cNvPr id="277" name="Google Shape;277;p30"/>
          <p:cNvSpPr txBox="1"/>
          <p:nvPr/>
        </p:nvSpPr>
        <p:spPr>
          <a:xfrm>
            <a:off x="983225" y="1438325"/>
            <a:ext cx="70758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ISOT</a:t>
            </a:r>
            <a:r>
              <a:rPr lang="en-US" sz="2000">
                <a:solidFill>
                  <a:schemeClr val="dk1"/>
                </a:solidFill>
              </a:rPr>
              <a:t>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90,5% oprotí 83,5%</a:t>
            </a:r>
            <a:r>
              <a:rPr lang="en-US" sz="2000">
                <a:solidFill>
                  <a:schemeClr val="dk1"/>
                </a:solidFill>
              </a:rPr>
              <a:t> u Naive Bayes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ReCOVery</a:t>
            </a:r>
            <a:r>
              <a:rPr lang="en-US" sz="2000">
                <a:solidFill>
                  <a:schemeClr val="dk1"/>
                </a:solidFill>
              </a:rPr>
              <a:t>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99,5% oporti 97%</a:t>
            </a:r>
            <a:r>
              <a:rPr lang="en-US" sz="2000">
                <a:solidFill>
                  <a:schemeClr val="dk1"/>
                </a:solidFill>
              </a:rPr>
              <a:t> u CNN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EUvsDisinfo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100% oproti 95,1%</a:t>
            </a:r>
            <a:r>
              <a:rPr lang="en-US" sz="2000">
                <a:solidFill>
                  <a:schemeClr val="dk1"/>
                </a:solidFill>
              </a:rPr>
              <a:t> u LSTM</a:t>
            </a:r>
            <a:endParaRPr sz="20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Česká datová sada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Nejlepší model: </a:t>
            </a:r>
            <a:r>
              <a:rPr b="1" lang="en-US" sz="2000">
                <a:solidFill>
                  <a:schemeClr val="dk1"/>
                </a:solidFill>
              </a:rPr>
              <a:t>DistilBERT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Accuracy: </a:t>
            </a:r>
            <a:r>
              <a:rPr b="1" lang="en-US" sz="2000">
                <a:solidFill>
                  <a:schemeClr val="dk1"/>
                </a:solidFill>
              </a:rPr>
              <a:t>92% oproti 89,9%</a:t>
            </a:r>
            <a:r>
              <a:rPr lang="en-US" sz="2000">
                <a:solidFill>
                  <a:schemeClr val="dk1"/>
                </a:solidFill>
              </a:rPr>
              <a:t> u Naive Bayes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Závěr</a:t>
            </a:r>
            <a:endParaRPr/>
          </a:p>
        </p:txBody>
      </p:sp>
      <p:sp>
        <p:nvSpPr>
          <p:cNvPr id="283" name="Google Shape;283;p31"/>
          <p:cNvSpPr txBox="1"/>
          <p:nvPr>
            <p:ph idx="1" type="body"/>
          </p:nvPr>
        </p:nvSpPr>
        <p:spPr>
          <a:xfrm>
            <a:off x="846925" y="1536429"/>
            <a:ext cx="7794000" cy="506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Byly provedeny experimenty s pokročilými NLP modely a jejich výsledky byly porovnány s výsledky předchozí práce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Bylo identifikováno několik možností pro další zlepšení efektivity klasifikace:</a:t>
            </a:r>
            <a:endParaRPr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Zvládnout problém s omezeným vstupem</a:t>
            </a:r>
            <a:endParaRPr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Soustředit se na menší modely</a:t>
            </a:r>
            <a:endParaRPr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Zkusit Mixture of Experts</a:t>
            </a:r>
            <a:endParaRPr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Zkusit Claim extraction + Retrieval + Evidence ranking</a:t>
            </a:r>
            <a:endParaRPr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Pokročit na jiné, těžší datasety</a:t>
            </a:r>
            <a:endParaRPr/>
          </a:p>
          <a:p>
            <a:pPr indent="-355600" lvl="0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Zaměření na </a:t>
            </a:r>
            <a:r>
              <a:rPr lang="en-US"/>
              <a:t>uplatnění</a:t>
            </a:r>
            <a:r>
              <a:rPr lang="en-US"/>
              <a:t> v open source a kontrola alignmentu.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Byl vytvořen framework pro provádění experimentů, který vyžaduje pouze rozšíření o další modely a metody.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title"/>
          </p:nvPr>
        </p:nvSpPr>
        <p:spPr>
          <a:xfrm>
            <a:off x="339400" y="2885100"/>
            <a:ext cx="8462100" cy="108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Děkuji za pozornost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iv Office">
  <a:themeElements>
    <a:clrScheme name="Motiv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