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Dobrý den, dneska prezentují svoji bakalářskou práci, zaměřenou na klasifikaci falešných zpráv za použitím pokročilejších metod umělé inteligence</a:t>
            </a:r>
            <a:endParaRPr/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Tato práce je pokračováním práce jiného studenta, Jan Flajžíka, který použil jenom základní metody umělé inteligence, jeho výzkum se zastavil na použití konvolučních sití a LSTM. Dosáhl určité celkem dobré výsledky, a tato moje práce se snaží je vylepšit.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Bylo potřeba udělat rešerší  pokročilých metod, použit je na datasetech z předchozí práce, a porovnat předchozí výsledky s novějšími.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Jak tady je nanzačeno, tato práce zkouší použit transformery.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Metodologie práce je následující, zhrnu to následujicím způsobem: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Udělat rešerší,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Vybrat pokročilejší metody,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Kouknout ještě jednou na datasety a proanalyzovat je z hlediska novějšími metodami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Implementovat sádu balíčku a pro provedení experimentu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Provést v jupyter noteboocich experimenty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Pak vizualizovat výsledky jako tabulky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Nakonec porovnat s předchozími výsledky a provést finální diskuzi co tato práce přinesla nového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03ceebe9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f03ceebe9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Pár slov ohledně toho co jsou za datasety - jsou to 4 různé datasety, 3 anglické, jeden český, kde data jsou články s označením, jestli článek obsahuje falešnou zprávu nebo 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Ohledně pokročilejší analýzy datasetů, jelikož jsme prácovali s transformery, které mají omezený kontext, tj. omezenou délku vstupu, neboli maximální počet tokenů na vstupu, byla provedena analýza toho, jak články v datasetech jsou dlouhé z hlediská počku znaků a taky byly tokenizované různými tokenizerami příslušných modelů.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Většina zkoušených modelů mají délku kontextu maximálně 512 tokenů, GPT2 má maximální delků 1024 tokenů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to v frameworku MLflow, který poskytuje nástroje pro uložení a mezivýsledků a jejich prezentaci v pohodlném nastavitelném dashboardu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Nejaky pomocne soubory, sablony, obrazky, logy jsou vynechany, tady je neuvidite, pochopitlene ty bych potreboval jeste dalsi slide abych je mohl zobrazit taky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Presouvame se k diskuzi ohledne experimentu a jejich vysledky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Takhle vypada zmineny pred minule MLflow, ktery umoznuje nastavit pohodnly dashboard a porovnavat modely. Je neuveritelne uzitecny k pochopeni chovani modelu a jejich pripadne debugovani, protoze zaznamenany jsou vetsina udaju.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03ceebe9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03ceebe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Krome MLFlow vysledky jsou reprezentovany pomoci tabulek a dalsich vizualizaci, standardne confusion matrix, ROC Curve s AUC skorem, vcetne tabulek s vysledky a hyperparametry pro nejlepsi modely.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Nakonec, provedli jsme experimenty s pokročilymi modely, dostali jsme vysledky, porovnali jsme je, analyzovali jsme proc vysledky byly takove jake jsou, navrhli jsme způsob jak ty vysledky zlepši, a aktualni implementace umoznuje velice jednoduche rozsireni na jakekoliv modely, protoze vyuziva abstraktni tridy a dedeni.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vodní snímek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9" l="0" r="0" t="-9"/>
          <a:stretch/>
        </p:blipFill>
        <p:spPr>
          <a:xfrm>
            <a:off x="0" y="0"/>
            <a:ext cx="10076688" cy="755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1" y="270000"/>
            <a:ext cx="1773814" cy="8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sah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1080000" y="1800000"/>
            <a:ext cx="7794000" cy="1087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080000" y="3059766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Úvodní snímek">
  <p:cSld name="1_Úvodní sníme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-10" l="0" r="0" t="-10"/>
          <a:stretch/>
        </p:blipFill>
        <p:spPr>
          <a:xfrm>
            <a:off x="0" y="1"/>
            <a:ext cx="10076688" cy="75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2" y="270000"/>
            <a:ext cx="1770611" cy="86348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rázek">
  <p:cSld name="Nadpis a obráze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177200" y="1800001"/>
            <a:ext cx="7696800" cy="4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ázek">
  <p:cSld name="Obráze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2067643" y="368300"/>
            <a:ext cx="6888707" cy="1228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270000" y="270000"/>
            <a:ext cx="8604000" cy="6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80000" y="1440000"/>
            <a:ext cx="779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80000" y="2880000"/>
            <a:ext cx="77940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0002" y="270000"/>
            <a:ext cx="1770611" cy="8634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">
          <p15:clr>
            <a:srgbClr val="F26B43"/>
          </p15:clr>
        </p15:guide>
        <p15:guide id="2" pos="13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hyperlink" Target="https://mlflow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10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3000"/>
              <a:t>ENHANCING FAKE NEWS CLASSIFICATION WITH ADVANCED NLP MODELS</a:t>
            </a:r>
            <a:endParaRPr sz="3000"/>
          </a:p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Nikita Bardatskii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080000" y="1800000"/>
            <a:ext cx="77940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1080000" y="3059766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Understand the previous work of Jan Flajžík about fake news detection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Research new NLP methods to enhance classification on the provided datasets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Make experiments using advanced NLP models (BERT, GPT-2, etc.)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/>
              <a:t>Compare results with the previous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1080000" y="2649241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Research latest papers about fake news detection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Choose more advanced methods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Conduct experiments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Compare results with the previous work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/>
              <a:t>Discuss overall own contribution compared to the previous work and what can be improved</a:t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1080000" y="1800000"/>
            <a:ext cx="77940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Methodology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Datasets Analysis</a:t>
            </a:r>
            <a:endParaRPr/>
          </a:p>
        </p:txBody>
      </p:sp>
      <p:pic>
        <p:nvPicPr>
          <p:cNvPr id="50" name="Google Shape;50;p10" title="bert_token_length_distribution.png"/>
          <p:cNvPicPr preferRelativeResize="0"/>
          <p:nvPr/>
        </p:nvPicPr>
        <p:blipFill rotWithShape="1">
          <a:blip r:embed="rId3">
            <a:alphaModFix/>
          </a:blip>
          <a:srcRect b="47762" l="50045" r="0" t="3640"/>
          <a:stretch/>
        </p:blipFill>
        <p:spPr>
          <a:xfrm>
            <a:off x="4988600" y="3757950"/>
            <a:ext cx="3647800" cy="266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8600" y="1182028"/>
            <a:ext cx="3812900" cy="238304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0"/>
          <p:cNvSpPr txBox="1"/>
          <p:nvPr/>
        </p:nvSpPr>
        <p:spPr>
          <a:xfrm>
            <a:off x="588200" y="1693888"/>
            <a:ext cx="44004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600">
                <a:solidFill>
                  <a:schemeClr val="dk1"/>
                </a:solidFill>
              </a:rPr>
              <a:t>english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 </a:t>
            </a:r>
            <a:r>
              <a:rPr lang="en-US" sz="2600">
                <a:solidFill>
                  <a:schemeClr val="dk1"/>
                </a:solidFill>
              </a:rPr>
              <a:t>czech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datasets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Long articles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00">
                <a:solidFill>
                  <a:schemeClr val="dk1"/>
                </a:solidFill>
              </a:rPr>
              <a:t>only of the datasets has short summaries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Advanced visualization of the data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Tokenization analysis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 txBox="1"/>
          <p:nvPr/>
        </p:nvSpPr>
        <p:spPr>
          <a:xfrm>
            <a:off x="266950" y="5871225"/>
            <a:ext cx="5184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Datasets are taken from original thesis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59" name="Google Shape;59;p11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658150" y="1276025"/>
            <a:ext cx="79020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Encoder-only transformer architecture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Use bi-directional context (left and right)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Baseline model for the classification task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Simplified version of the BERT created by knowledge distillation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Approximately 40 % smaller and 60 % faster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Preserve the majority of the BERT performance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Robust, optimized version of the 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Trained on more data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Use techniques for making the model more robust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GPT-2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Decoder-only transformer architecture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Predicts next token based on the previous tokens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Primary usage is text generation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67" name="Google Shape;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2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Standard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ML a DS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tools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(scikit, pytorch, scipy, nltk)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479001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2"/>
          <p:cNvSpPr/>
          <p:nvPr/>
        </p:nvSpPr>
        <p:spPr>
          <a:xfrm flipH="1">
            <a:off x="4485047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12"/>
          <p:cNvCxnSpPr/>
          <p:nvPr/>
        </p:nvCxnSpPr>
        <p:spPr>
          <a:xfrm>
            <a:off x="4495575" y="3518718"/>
            <a:ext cx="8400" cy="40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75" name="Google Shape;7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5875" y="5046667"/>
            <a:ext cx="1087800" cy="10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 txBox="1"/>
          <p:nvPr/>
        </p:nvSpPr>
        <p:spPr>
          <a:xfrm>
            <a:off x="3210975" y="6098325"/>
            <a:ext cx="25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MLflow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3132075" y="3834275"/>
            <a:ext cx="27372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Saving and logging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12"/>
          <p:cNvCxnSpPr/>
          <p:nvPr/>
        </p:nvCxnSpPr>
        <p:spPr>
          <a:xfrm>
            <a:off x="4497371" y="4479084"/>
            <a:ext cx="6600" cy="37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7389" y="1359446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778371" y="1000750"/>
            <a:ext cx="7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7349969" y="1337609"/>
            <a:ext cx="779916" cy="779916"/>
            <a:chOff x="7024176" y="2229808"/>
            <a:chExt cx="1270636" cy="1270636"/>
          </a:xfrm>
        </p:grpSpPr>
        <p:pic>
          <p:nvPicPr>
            <p:cNvPr id="87" name="Google Shape;8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65990" y="3058829"/>
              <a:ext cx="214761" cy="214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3"/>
            <p:cNvPicPr preferRelativeResize="0"/>
            <p:nvPr/>
          </p:nvPicPr>
          <p:blipFill rotWithShape="1">
            <a:blip r:embed="rId3">
              <a:alphaModFix/>
            </a:blip>
            <a:srcRect b="121130" l="0" r="0" t="-121130"/>
            <a:stretch/>
          </p:blipFill>
          <p:spPr>
            <a:xfrm>
              <a:off x="7024176" y="2229808"/>
              <a:ext cx="1270636" cy="1270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363" y="1252823"/>
            <a:ext cx="779876" cy="7798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270539" y="1070938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notebooks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3"/>
          <p:cNvGrpSpPr/>
          <p:nvPr/>
        </p:nvGrpSpPr>
        <p:grpSpPr>
          <a:xfrm>
            <a:off x="131036" y="2241856"/>
            <a:ext cx="1068507" cy="1032108"/>
            <a:chOff x="512975" y="3263775"/>
            <a:chExt cx="1333800" cy="1288363"/>
          </a:xfrm>
        </p:grpSpPr>
        <p:pic>
          <p:nvPicPr>
            <p:cNvPr id="92" name="Google Shape;9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3109" y="3578552"/>
              <a:ext cx="973586" cy="973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3"/>
            <p:cNvSpPr txBox="1"/>
            <p:nvPr/>
          </p:nvSpPr>
          <p:spPr>
            <a:xfrm>
              <a:off x="512975" y="3263775"/>
              <a:ext cx="13338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experiments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396" y="2493931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2547198" y="2241750"/>
            <a:ext cx="12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local_datasets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3"/>
          <p:cNvGrpSpPr/>
          <p:nvPr/>
        </p:nvGrpSpPr>
        <p:grpSpPr>
          <a:xfrm>
            <a:off x="5388405" y="2241846"/>
            <a:ext cx="1068507" cy="1032117"/>
            <a:chOff x="4220900" y="3263763"/>
            <a:chExt cx="1333800" cy="1288375"/>
          </a:xfrm>
        </p:grpSpPr>
        <p:pic>
          <p:nvPicPr>
            <p:cNvPr id="97" name="Google Shape;9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01009" y="3578552"/>
              <a:ext cx="973586" cy="973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3"/>
            <p:cNvSpPr txBox="1"/>
            <p:nvPr/>
          </p:nvSpPr>
          <p:spPr>
            <a:xfrm>
              <a:off x="4220900" y="3263763"/>
              <a:ext cx="13338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" name="Google Shape;99;p13"/>
          <p:cNvCxnSpPr>
            <a:stCxn id="89" idx="2"/>
            <a:endCxn id="98" idx="0"/>
          </p:cNvCxnSpPr>
          <p:nvPr/>
        </p:nvCxnSpPr>
        <p:spPr>
          <a:xfrm flipH="1" rot="-5400000">
            <a:off x="4440901" y="760099"/>
            <a:ext cx="209100" cy="27543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3"/>
          <p:cNvCxnSpPr>
            <a:stCxn id="89" idx="2"/>
            <a:endCxn id="93" idx="0"/>
          </p:cNvCxnSpPr>
          <p:nvPr/>
        </p:nvCxnSpPr>
        <p:spPr>
          <a:xfrm rot="5400000">
            <a:off x="1812301" y="885799"/>
            <a:ext cx="209100" cy="2502900"/>
          </a:xfrm>
          <a:prstGeom prst="bentConnector3">
            <a:avLst>
              <a:gd fmla="val 5001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3"/>
          <p:cNvCxnSpPr>
            <a:stCxn id="89" idx="2"/>
            <a:endCxn id="95" idx="0"/>
          </p:cNvCxnSpPr>
          <p:nvPr/>
        </p:nvCxnSpPr>
        <p:spPr>
          <a:xfrm flipH="1" rot="-5400000">
            <a:off x="3064051" y="2136949"/>
            <a:ext cx="209100" cy="6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7659654" y="1855856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3">
            <a:alphaModFix/>
          </a:blip>
          <a:srcRect b="121130" l="0" r="0" t="-121130"/>
          <a:stretch/>
        </p:blipFill>
        <p:spPr>
          <a:xfrm>
            <a:off x="2778239" y="2472089"/>
            <a:ext cx="779916" cy="77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3015581" y="2978284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246" y="3784156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1853936" y="3531979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13"/>
          <p:cNvGrpSpPr/>
          <p:nvPr/>
        </p:nvGrpSpPr>
        <p:grpSpPr>
          <a:xfrm>
            <a:off x="1998264" y="3759227"/>
            <a:ext cx="779916" cy="779916"/>
            <a:chOff x="7024176" y="2229808"/>
            <a:chExt cx="1270636" cy="1270636"/>
          </a:xfrm>
        </p:grpSpPr>
        <p:pic>
          <p:nvPicPr>
            <p:cNvPr id="108" name="Google Shape;10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83849" y="3058829"/>
              <a:ext cx="214761" cy="214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/>
            <p:cNvPicPr preferRelativeResize="0"/>
            <p:nvPr/>
          </p:nvPicPr>
          <p:blipFill rotWithShape="1">
            <a:blip r:embed="rId3">
              <a:alphaModFix/>
            </a:blip>
            <a:srcRect b="121130" l="0" r="0" t="-121130"/>
            <a:stretch/>
          </p:blipFill>
          <p:spPr>
            <a:xfrm>
              <a:off x="7024176" y="2229808"/>
              <a:ext cx="1270636" cy="1270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553" y="3762253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3714732" y="3510222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121130" l="0" r="0" t="-121130"/>
          <a:stretch/>
        </p:blipFill>
        <p:spPr>
          <a:xfrm>
            <a:off x="4004396" y="3977311"/>
            <a:ext cx="779916" cy="77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4229681" y="4242367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2999202" y="1739620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5731781" y="2978484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481031" y="2978484"/>
            <a:ext cx="131826" cy="1325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3"/>
          <p:cNvCxnSpPr>
            <a:stCxn id="103" idx="2"/>
            <a:endCxn id="111" idx="0"/>
          </p:cNvCxnSpPr>
          <p:nvPr/>
        </p:nvCxnSpPr>
        <p:spPr>
          <a:xfrm flipH="1" rot="-5400000">
            <a:off x="3652247" y="2767955"/>
            <a:ext cx="258300" cy="1226400"/>
          </a:xfrm>
          <a:prstGeom prst="bentConnector3">
            <a:avLst>
              <a:gd fmla="val 396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3"/>
          <p:cNvCxnSpPr>
            <a:stCxn id="103" idx="2"/>
            <a:endCxn id="106" idx="0"/>
          </p:cNvCxnSpPr>
          <p:nvPr/>
        </p:nvCxnSpPr>
        <p:spPr>
          <a:xfrm rot="5400000">
            <a:off x="2638247" y="3001955"/>
            <a:ext cx="279900" cy="780000"/>
          </a:xfrm>
          <a:prstGeom prst="bentConnector3">
            <a:avLst>
              <a:gd fmla="val 3662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3"/>
          <p:cNvSpPr txBox="1"/>
          <p:nvPr/>
        </p:nvSpPr>
        <p:spPr>
          <a:xfrm>
            <a:off x="7294664" y="2115453"/>
            <a:ext cx="1870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bert_base_uncased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distillibert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openai_gpt1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openai_gpt2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roberta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run_all_training.ipynb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tables_templates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202983" y="3173007"/>
            <a:ext cx="172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experiment.py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metrics.py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visualizations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flajzik_classification_2024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│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│   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plots.py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tables.py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3558175" y="2494850"/>
            <a:ext cx="12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data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data_classes.py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dataset.py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preprocessing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942725" y="45100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EUvsDisinfo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euvsdisinfo.csv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euvsdisinfo.ipynb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ISOT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isot.csv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isot.ipynb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ReCOVery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recovery.csv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recovery.ipynb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cz_dataset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cz_dataset.csv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cz_dataset.ipynb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3919050" y="4436100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cleaning.py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encoders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encoders.py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flajzik_classification_2024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czech_stemmer.py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preprocessing_functions.py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pipelines.py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tokenization.py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transformations.py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5472800" y="32531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transformers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bert_based_models.py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callbacks.py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openai_gpt_models.py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└── trainer.py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3456900" y="1242563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experiments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local_datasets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models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922000" y="6468000"/>
            <a:ext cx="69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assets, images, templates and helper files are excluded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Experiments and monitoring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of the results</a:t>
            </a:r>
            <a:endParaRPr/>
          </a:p>
        </p:txBody>
      </p:sp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962" y="1410200"/>
            <a:ext cx="8406076" cy="508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Presentation of the results</a:t>
            </a:r>
            <a:endParaRPr/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3562" y="3868894"/>
            <a:ext cx="2732550" cy="226393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462950" y="3013000"/>
            <a:ext cx="62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Results for the best model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498750" y="1402163"/>
            <a:ext cx="61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Results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for 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ReCOVery Dataset: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247" y="3819075"/>
            <a:ext cx="2968253" cy="22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025" y="3690950"/>
            <a:ext cx="1915400" cy="170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473" y="5527173"/>
            <a:ext cx="1858501" cy="6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3726310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7107047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6451" y="1984025"/>
            <a:ext cx="4465485" cy="9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979463" y="6299575"/>
            <a:ext cx="694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hyperparameters tables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ROC </a:t>
            </a:r>
            <a:r>
              <a:rPr b="1" lang="en-US" sz="1200">
                <a:solidFill>
                  <a:schemeClr val="dk1"/>
                </a:solidFill>
              </a:rPr>
              <a:t>Curves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200">
                <a:solidFill>
                  <a:schemeClr val="dk1"/>
                </a:solidFill>
              </a:rPr>
              <a:t>Confusion matrices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can be found only in the source code repository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with the previous work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725" y="2026325"/>
            <a:ext cx="2828024" cy="7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389725" y="1492325"/>
            <a:ext cx="93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064525" y="1492325"/>
            <a:ext cx="1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389725" y="3847650"/>
            <a:ext cx="1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EUvsDisinfo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064525" y="384765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Czech Dataset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5925" y="4386670"/>
            <a:ext cx="2828026" cy="759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075" y="4388875"/>
            <a:ext cx="2801323" cy="7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3025" y="2026326"/>
            <a:ext cx="2813828" cy="7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6963" y="2957304"/>
            <a:ext cx="4032323" cy="84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075" y="5357600"/>
            <a:ext cx="4003448" cy="8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75925" y="5349376"/>
            <a:ext cx="4046775" cy="83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79375" y="2952700"/>
            <a:ext cx="4003449" cy="8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with the previous work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83,5%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97%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CNN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EUvsDisinfo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95,1%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LSTM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</a:rPr>
              <a:t>Czech Dataset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89,9%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846925" y="1536429"/>
            <a:ext cx="7794000" cy="5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Experiments with advanced models were conducted and compared to the predecessor’s work results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Some insights on how to improve performance of the models were taken: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Solve the problem with limited input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Focus on smaller models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Try Mixture of Experts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Try Claim extraction + Retrieval + Evidence ranking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Try other, “harder” datasets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Focus on usage in open source a control of alignment.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Framework for conducting experiments is created, it needs only an extension of models and preprocessing methods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title"/>
          </p:nvPr>
        </p:nvSpPr>
        <p:spPr>
          <a:xfrm>
            <a:off x="339400" y="2885100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Thank you for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iv Office">
  <a:themeElements>
    <a:clrScheme name="Motiv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