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Dobrý den, dneska prezentují svoji bakalářskou práci, zaměřenou na klasifikaci falešných zpráv za použitím pokročilejších metod umělé inteligence</a:t>
            </a:r>
            <a:endParaRPr/>
          </a:p>
        </p:txBody>
      </p:sp>
      <p:sp>
        <p:nvSpPr>
          <p:cNvPr id="29" name="Google Shape;2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Tato práce je pokračováním práce jiného studenta, Jan Flajžíka, který použil jenom základní metody umělé inteligence, jeho výzkum se zastavil na použití konvolučních sití a LSTM. Dosáhl určité celkem dobré výsledky, a tato moje práce se snaží je vylepšit.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Bylo potřeba udělat rešerší  pokročilých metod, použit je na datasetech z předchozí práce, a porovnat předchozí výsledky s novějšími.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Jak tady je nanzačeno, tato práce zkouší použit transformery.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Metodologie práce je následující, zhrnu to následujicím způsobem: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Udělat rešerší,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Vybrat pokročilejší metody,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Kouknout ještě jednou na datasety a proanalyzovat je z hlediska novějšími metodami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Implementovat sádu balíčku a pro provedení experimentu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Provést v jupyter noteboocich experimenty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Pak vizualizovat výsledky jako tabulky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Nakonec porovnat s předchozími výsledky a provést finální diskuzi co tato práce přinesla nového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Pár slov ohledně toho co jsou za datasety - jsou to 4 různé datasety, 3 anglické, jeden český, kde data jsou články s označením, jestli článek obsahuje falešnou zprávu nebo 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Ohledně pokročilejší analýzy datasetů, jelikož jsme prácovali s transformery, které mají omezený kontext, tj. omezenou délku vstupu, neboli maximální počet tokenů na vstupu, byla provedena analýza toho, jak články v datasetech jsou dlouhé z hlediská počku znaků a taky byly tokenizované různými tokenizerami příslušných modelů.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Většina zkoušených modelů mají délku kontextu maximálně 512 tokenů, GPT2 má maximální delků 1024 tokenů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03ceebe9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f03ceebe9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Pár slov ohledně toho co jsou za datasety - jsou to 4 různé datasety, 3 anglické, jeden český, kde data jsou články s označením, jestli článek obsahuje falešnou zprávu nebo 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Ohledně pokročilejší analýzy datasetů, jelikož jsme prácovali s transformery, které mají omezený kontext, tj. omezenou délku vstupu, neboli maximální počet tokenů na vstupu, byla provedena analýza toho, jak články v datasetech jsou dlouhé z hlediská počku znaků a taky byly tokenizované různými tokenizerami příslušných modelů.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Většina zkoušených modelů mají délku kontextu maximálně 512 tokenů, GPT2 má maximální delků 1024 tokenů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Teď se pobavím ohledně implementace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Použil jsem python jako hlavní a jediný programovací jazyk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Důležité knihovný byly knihovny s implementaci transformerů od hugging face, což je dneska nejvýznamnějí framework pro použití předtrenovaných modelů.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Dále byly použité další pomocné knihovny co se často vyskytuji v machine learningu a data science vůbec.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Důležité z toho je, že jako backend pro modely byl použit pytorch a ještě jsme využili NLTK knihovnu pro práci s přirozeným textem.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Tady poznámka k trénování: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Brali jsme předtrénované modely z hugging face, jako BERT, roberta, distillbert a GPT1 a 2, dotrénovali jsme to na našich datech, a všechny výsledky a mezivysledky trénování a evaluace jsme ukladali a logovali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A to v frameworku MLflow, který poskytuje nástroje pro uložení a mezivýsledků a jejich prezentaci v pohodlném nastavitelném dashboardu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Nejaky pomocne soubory, sablony, obrazky, logy jsou vynechany, tady je neuvidite, pochopitlene ty bych potreboval jeste dalsi slide abych je mohl zobrazit taky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Presouvame se k diskuzi ohledne experimentu a jejich vysledky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Takhle vypada zmineny pred minule MLflow, ktery umoznuje nastavit pohodnly dashboard a porovnavat modely. Je neuveritelne uzitecny k pochopeni chovani modelu a jejich pripadne debugovani, protoze zaznamenany jsou vetsina udaju.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Krome MLFlow vysledky jsou reprezentovany pomoci tabulek a dalsich vizualizaci, standardne confusion matrix, ROC Curve s AUC skorem, vcetne tabulek s vysledky a hyperparametry pro nejlepsi modely.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03ceebe9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f03ceebe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Krome MLFlow vysledky jsou reprezentovany pomoci tabulek a dalsich vizualizaci, standardne confusion matrix, ROC Curve s AUC skorem, vcetne tabulek s vysledky a hyperparametry pro nejlepsi modely.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Presuneme se ted k hlavnim vysledkum praci - tady vidite vsechny 4 dataset, pro kazdy - nahore jsou vysledky predchozi prace, poznate to po jednoduššim modelum, ktere byly pouzite, dole jsou pouziti transformeru.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Vysledky ukazali, ze transformery, pochopitelne dosahli lepsich vysledku.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Mozna vas u tech tabulek napadne, ze transformery by to meli zvladnout mnohem lepe, a meli by mit vysledky mnohem lepsi, s presnosti skoro 100%, co tady ale vidime, ze na ReCOVery datasetu a ceskem datasetu vysledky jsou mnohem horsi. Myslím si že hlavním důvodem je, že članky v ReCOVery a českém datasetu jsou mnohem delší, v predchozi praci stuent taky omezoval članky na 250 slov, v této praci kvůli dolhému trenovani jsme trenovali na 128 tokenu, kde tokenu muze byt cast slova nebo cele slovo. Jinymi slovy transformery pracovali s jenom malou prvni casti textu, cekal bych kdybych nastavil delku tokenu na 512 nebo 1024, anebo kdybych pouzil agregacni techniky, transformery by dosahli vysledku skoro 100% v podstate bez problémů.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Nakonec, provedli jsme experimenty s pokročilymi modely, dostali jsme vysledky, porovnali jsme je, analyzovali jsme proc vysledky byly takove jake jsou, navrhli jsme způsob jak ty vysledky zlepši, a aktualni implementace umoznuje velice jednoduche rozsireni na jakekoliv modely, protoze vyuziva abstraktni tridy a dedeni.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Úvodní snímek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9" l="0" r="0" t="-9"/>
          <a:stretch/>
        </p:blipFill>
        <p:spPr>
          <a:xfrm>
            <a:off x="0" y="0"/>
            <a:ext cx="10076688" cy="7557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1" y="270000"/>
            <a:ext cx="1773814" cy="86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sah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1080000" y="1800000"/>
            <a:ext cx="7794000" cy="1087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080000" y="3059766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Úvodní snímek">
  <p:cSld name="1_Úvodní sníme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-10" l="0" r="0" t="-10"/>
          <a:stretch/>
        </p:blipFill>
        <p:spPr>
          <a:xfrm>
            <a:off x="0" y="1"/>
            <a:ext cx="10076688" cy="755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002" y="270000"/>
            <a:ext cx="1770611" cy="86348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i="0" sz="24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dpis a obrázek">
  <p:cSld name="Nadpis a obráze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177200" y="1800001"/>
            <a:ext cx="7696800" cy="4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ázek">
  <p:cSld name="Obráze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2067643" y="368300"/>
            <a:ext cx="6888707" cy="12284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270000" y="270000"/>
            <a:ext cx="8604000" cy="6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80000" y="1440000"/>
            <a:ext cx="779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80000" y="2880000"/>
            <a:ext cx="7794000" cy="3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0002" y="270000"/>
            <a:ext cx="1770611" cy="86348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2">
          <p15:clr>
            <a:srgbClr val="F26B43"/>
          </p15:clr>
        </p15:guide>
        <p15:guide id="2" pos="131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hyperlink" Target="https://mlflow.org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10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ctrTitle"/>
          </p:nvPr>
        </p:nvSpPr>
        <p:spPr>
          <a:xfrm>
            <a:off x="1080000" y="1800005"/>
            <a:ext cx="7736694" cy="1446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3000"/>
              <a:t>ENHANCING FAKE NEWS CLASSIFICATION WITH ADVANCED NLP MODELS</a:t>
            </a:r>
            <a:endParaRPr sz="3000"/>
          </a:p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1080000" y="3441736"/>
            <a:ext cx="7736693" cy="1771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Nikita Bardatskii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080000" y="1800000"/>
            <a:ext cx="77940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1080000" y="3059766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Understand the previous work of Jan Flajžík about fake news detection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Research new NLP methods to enhance classification on the provided datasets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Make experiments using advanced NLP models (BERT, GPT-2, etc.)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/>
              <a:t>Compare results with the previous work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1080000" y="2649241"/>
            <a:ext cx="77940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Research latest papers about fake news detection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Choose more advanced methods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Conduct experiments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Compare results with the previous work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-US"/>
              <a:t>Discuss overall own contribution compared to the previous work and what can be improved</a:t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1080000" y="1800000"/>
            <a:ext cx="77940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Methodology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Datasets Analysis</a:t>
            </a:r>
            <a:endParaRPr/>
          </a:p>
        </p:txBody>
      </p:sp>
      <p:pic>
        <p:nvPicPr>
          <p:cNvPr id="50" name="Google Shape;50;p10" title="bert_token_length_distribution.png"/>
          <p:cNvPicPr preferRelativeResize="0"/>
          <p:nvPr/>
        </p:nvPicPr>
        <p:blipFill rotWithShape="1">
          <a:blip r:embed="rId3">
            <a:alphaModFix/>
          </a:blip>
          <a:srcRect b="47762" l="50045" r="0" t="3640"/>
          <a:stretch/>
        </p:blipFill>
        <p:spPr>
          <a:xfrm>
            <a:off x="4988600" y="3757950"/>
            <a:ext cx="3647800" cy="266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8600" y="1182028"/>
            <a:ext cx="3812900" cy="238304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0"/>
          <p:cNvSpPr txBox="1"/>
          <p:nvPr/>
        </p:nvSpPr>
        <p:spPr>
          <a:xfrm>
            <a:off x="588200" y="1693888"/>
            <a:ext cx="44004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600">
                <a:solidFill>
                  <a:schemeClr val="dk1"/>
                </a:solidFill>
              </a:rPr>
              <a:t>english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 </a:t>
            </a:r>
            <a:r>
              <a:rPr lang="en-US" sz="2600">
                <a:solidFill>
                  <a:schemeClr val="dk1"/>
                </a:solidFill>
              </a:rPr>
              <a:t>czech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datasets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Long articles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00">
                <a:solidFill>
                  <a:schemeClr val="dk1"/>
                </a:solidFill>
              </a:rPr>
              <a:t>only of the datasets has short summaries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Advanced visualization of the data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Tokenization analysis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Datasets Analysis</a:t>
            </a:r>
            <a:endParaRPr/>
          </a:p>
        </p:txBody>
      </p:sp>
      <p:pic>
        <p:nvPicPr>
          <p:cNvPr id="58" name="Google Shape;58;p11" title="bert_token_length_distribution.png"/>
          <p:cNvPicPr preferRelativeResize="0"/>
          <p:nvPr/>
        </p:nvPicPr>
        <p:blipFill rotWithShape="1">
          <a:blip r:embed="rId3">
            <a:alphaModFix/>
          </a:blip>
          <a:srcRect b="47762" l="50045" r="0" t="3640"/>
          <a:stretch/>
        </p:blipFill>
        <p:spPr>
          <a:xfrm>
            <a:off x="4988600" y="3757950"/>
            <a:ext cx="3647800" cy="266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8600" y="1182028"/>
            <a:ext cx="3812900" cy="238304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/>
          <p:nvPr/>
        </p:nvSpPr>
        <p:spPr>
          <a:xfrm>
            <a:off x="588200" y="1693888"/>
            <a:ext cx="44004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2600">
                <a:solidFill>
                  <a:schemeClr val="dk1"/>
                </a:solidFill>
              </a:rPr>
              <a:t>english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1 </a:t>
            </a:r>
            <a:r>
              <a:rPr lang="en-US" sz="2600">
                <a:solidFill>
                  <a:schemeClr val="dk1"/>
                </a:solidFill>
              </a:rPr>
              <a:t>czech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datasets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Long articles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600">
                <a:solidFill>
                  <a:schemeClr val="dk1"/>
                </a:solidFill>
              </a:rPr>
              <a:t>only of the datasets has short summaries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Advanced visualization of the data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600"/>
              <a:buFont typeface="Arial"/>
              <a:buChar char="●"/>
            </a:pPr>
            <a:r>
              <a:rPr lang="en-US" sz="2600">
                <a:solidFill>
                  <a:schemeClr val="dk1"/>
                </a:solidFill>
              </a:rPr>
              <a:t>Tokenization analysis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 txBox="1"/>
          <p:nvPr/>
        </p:nvSpPr>
        <p:spPr>
          <a:xfrm>
            <a:off x="266950" y="5871225"/>
            <a:ext cx="5184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900">
                <a:solidFill>
                  <a:schemeClr val="dk1"/>
                </a:solidFill>
              </a:rPr>
              <a:t>Datasets are taken from original thesis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Used Models</a:t>
            </a:r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58150" y="1276025"/>
            <a:ext cx="7902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Encoder-only transformer architecture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Use bi-directional context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>
                <a:solidFill>
                  <a:schemeClr val="dk1"/>
                </a:solidFill>
              </a:rPr>
              <a:t>left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right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Baseline model for the classification task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658150" y="1276025"/>
            <a:ext cx="79020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Encoder-only transformer architecture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Use bi-directional context (left and right)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Baseline model for the classification task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Simplified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version of 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BERT</a:t>
            </a:r>
            <a:r>
              <a:rPr lang="en-US" sz="2000">
                <a:solidFill>
                  <a:schemeClr val="dk1"/>
                </a:solidFill>
              </a:rPr>
              <a:t> created by knowledge distillation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Approximately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40 % </a:t>
            </a:r>
            <a:r>
              <a:rPr lang="en-US" sz="2000">
                <a:solidFill>
                  <a:schemeClr val="dk1"/>
                </a:solidFill>
              </a:rPr>
              <a:t>smaller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60 % </a:t>
            </a:r>
            <a:r>
              <a:rPr lang="en-US" sz="2000">
                <a:solidFill>
                  <a:schemeClr val="dk1"/>
                </a:solidFill>
              </a:rPr>
              <a:t>faster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Preserve the majority of 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BERT performan</a:t>
            </a:r>
            <a:r>
              <a:rPr lang="en-US" sz="2000">
                <a:solidFill>
                  <a:schemeClr val="dk1"/>
                </a:solidFill>
              </a:rPr>
              <a:t>ce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58150" y="1276025"/>
            <a:ext cx="79020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Encoder-only transformer architecture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Use bi-directional context (left and right)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Baseline model for the classification task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Simplified version of the BERT created by knowledge distillation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Approximately 40 % smaller and 60 % faster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Preserve the majority of the BERT performance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Robust, </a:t>
            </a:r>
            <a:r>
              <a:rPr lang="en-US" sz="2000">
                <a:solidFill>
                  <a:schemeClr val="dk1"/>
                </a:solidFill>
              </a:rPr>
              <a:t>optimized</a:t>
            </a:r>
            <a:r>
              <a:rPr lang="en-US" sz="2000">
                <a:solidFill>
                  <a:schemeClr val="dk1"/>
                </a:solidFill>
              </a:rPr>
              <a:t> version of the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Trained on more data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Use techniques for making the model more robust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Použité modely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237600" y="2309975"/>
            <a:ext cx="69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1606950" y="2261375"/>
            <a:ext cx="520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658150" y="1276025"/>
            <a:ext cx="79020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Encoder-only transformer architecture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Use bi-directional context (left and right)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Baseline model for the classification task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Simplified version of the BERT created by knowledge distillation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Approximately 40 % smaller and 60 % faster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Preserve the majority of the BERT performance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RoBERTa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Robust, optimized version of the BERT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Trained on more data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</a:rPr>
              <a:t>Use techniques for making the model more robust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GPT-2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Decoder-only transformer architecture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Predicts next token based on the previous tokens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Primary usage is text generation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Implementation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Standard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 a DS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tools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(scikit, pytorch, scipy, nltk)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Standard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ML a DS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tools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(scikit, pytorch, scipy, nltk)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79001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 flipH="1">
            <a:off x="4485047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" name="Google Shape;135;p20"/>
          <p:cNvCxnSpPr/>
          <p:nvPr/>
        </p:nvCxnSpPr>
        <p:spPr>
          <a:xfrm>
            <a:off x="4495575" y="3518718"/>
            <a:ext cx="8400" cy="40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" name="Google Shape;136;p20"/>
          <p:cNvSpPr txBox="1"/>
          <p:nvPr/>
        </p:nvSpPr>
        <p:spPr>
          <a:xfrm>
            <a:off x="3132075" y="3834275"/>
            <a:ext cx="2737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Saving and logging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612" y="1669350"/>
            <a:ext cx="1285050" cy="141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38682" l="33045" r="31669" t="14925"/>
          <a:stretch/>
        </p:blipFill>
        <p:spPr>
          <a:xfrm>
            <a:off x="3588088" y="1633362"/>
            <a:ext cx="1555026" cy="136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5245788" y="19686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2587213" y="1908325"/>
            <a:ext cx="787500" cy="813000"/>
          </a:xfrm>
          <a:prstGeom prst="mathPlus">
            <a:avLst>
              <a:gd fmla="val 13700" name="adj1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6297538" y="1559700"/>
            <a:ext cx="2173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Standard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ML a DS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en-US" sz="2600">
                <a:solidFill>
                  <a:schemeClr val="dk1"/>
                </a:solidFill>
              </a:rPr>
              <a:t>tools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(scikit, pytorch, scipy, nltk)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479001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 flipH="1">
            <a:off x="4485047" y="3087444"/>
            <a:ext cx="4027629" cy="507950"/>
          </a:xfrm>
          <a:custGeom>
            <a:rect b="b" l="l" r="r" t="t"/>
            <a:pathLst>
              <a:path extrusionOk="0" h="20318" w="148937">
                <a:moveTo>
                  <a:pt x="0" y="0"/>
                </a:moveTo>
                <a:cubicBezTo>
                  <a:pt x="2703" y="2274"/>
                  <a:pt x="-5846" y="11187"/>
                  <a:pt x="16217" y="13643"/>
                </a:cubicBezTo>
                <a:cubicBezTo>
                  <a:pt x="38280" y="16099"/>
                  <a:pt x="110256" y="13624"/>
                  <a:pt x="132376" y="14736"/>
                </a:cubicBezTo>
                <a:cubicBezTo>
                  <a:pt x="154496" y="15849"/>
                  <a:pt x="146177" y="19388"/>
                  <a:pt x="148937" y="2031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/>
          <p:nvPr/>
        </p:nvCxnSpPr>
        <p:spPr>
          <a:xfrm>
            <a:off x="4495575" y="3518718"/>
            <a:ext cx="8400" cy="40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50" name="Google Shape;1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5875" y="5046667"/>
            <a:ext cx="1087800" cy="10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/>
        </p:nvSpPr>
        <p:spPr>
          <a:xfrm>
            <a:off x="3210975" y="6098325"/>
            <a:ext cx="25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MLflow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3132075" y="3834275"/>
            <a:ext cx="27372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lang="en-US" sz="2300">
                <a:solidFill>
                  <a:schemeClr val="dk1"/>
                </a:solidFill>
              </a:rPr>
              <a:t>Saving and logging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21"/>
          <p:cNvCxnSpPr/>
          <p:nvPr/>
        </p:nvCxnSpPr>
        <p:spPr>
          <a:xfrm>
            <a:off x="4497371" y="4479084"/>
            <a:ext cx="6600" cy="378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7389" y="1359446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2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2778371" y="1000750"/>
            <a:ext cx="7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22"/>
          <p:cNvGrpSpPr/>
          <p:nvPr/>
        </p:nvGrpSpPr>
        <p:grpSpPr>
          <a:xfrm>
            <a:off x="7349969" y="1337609"/>
            <a:ext cx="779916" cy="779916"/>
            <a:chOff x="7024176" y="2229808"/>
            <a:chExt cx="1270636" cy="1270636"/>
          </a:xfrm>
        </p:grpSpPr>
        <p:pic>
          <p:nvPicPr>
            <p:cNvPr id="162" name="Google Shape;162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65990" y="3058829"/>
              <a:ext cx="214761" cy="214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22"/>
            <p:cNvPicPr preferRelativeResize="0"/>
            <p:nvPr/>
          </p:nvPicPr>
          <p:blipFill rotWithShape="1">
            <a:blip r:embed="rId3">
              <a:alphaModFix/>
            </a:blip>
            <a:srcRect b="121130" l="0" r="0" t="-121130"/>
            <a:stretch/>
          </p:blipFill>
          <p:spPr>
            <a:xfrm>
              <a:off x="7024176" y="2229808"/>
              <a:ext cx="1270636" cy="1270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363" y="1252823"/>
            <a:ext cx="779876" cy="779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/>
        </p:nvSpPr>
        <p:spPr>
          <a:xfrm>
            <a:off x="7270539" y="1070938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notebooks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22"/>
          <p:cNvGrpSpPr/>
          <p:nvPr/>
        </p:nvGrpSpPr>
        <p:grpSpPr>
          <a:xfrm>
            <a:off x="131036" y="2241856"/>
            <a:ext cx="1068507" cy="1032108"/>
            <a:chOff x="512975" y="3263775"/>
            <a:chExt cx="1333800" cy="1288363"/>
          </a:xfrm>
        </p:grpSpPr>
        <p:pic>
          <p:nvPicPr>
            <p:cNvPr id="167" name="Google Shape;167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3109" y="3578552"/>
              <a:ext cx="973586" cy="973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2"/>
            <p:cNvSpPr txBox="1"/>
            <p:nvPr/>
          </p:nvSpPr>
          <p:spPr>
            <a:xfrm>
              <a:off x="512975" y="3263775"/>
              <a:ext cx="13338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experiments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8396" y="2493931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2547198" y="2241750"/>
            <a:ext cx="12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local_datasets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22"/>
          <p:cNvGrpSpPr/>
          <p:nvPr/>
        </p:nvGrpSpPr>
        <p:grpSpPr>
          <a:xfrm>
            <a:off x="5388405" y="2241846"/>
            <a:ext cx="1068507" cy="1032117"/>
            <a:chOff x="4220900" y="3263763"/>
            <a:chExt cx="1333800" cy="1288375"/>
          </a:xfrm>
        </p:grpSpPr>
        <p:pic>
          <p:nvPicPr>
            <p:cNvPr id="172" name="Google Shape;172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01009" y="3578552"/>
              <a:ext cx="973586" cy="973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2"/>
            <p:cNvSpPr txBox="1"/>
            <p:nvPr/>
          </p:nvSpPr>
          <p:spPr>
            <a:xfrm>
              <a:off x="4220900" y="3263763"/>
              <a:ext cx="13338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models</a:t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4" name="Google Shape;174;p22"/>
          <p:cNvCxnSpPr>
            <a:stCxn id="164" idx="2"/>
            <a:endCxn id="173" idx="0"/>
          </p:cNvCxnSpPr>
          <p:nvPr/>
        </p:nvCxnSpPr>
        <p:spPr>
          <a:xfrm flipH="1" rot="-5400000">
            <a:off x="4440901" y="760099"/>
            <a:ext cx="209100" cy="2754300"/>
          </a:xfrm>
          <a:prstGeom prst="bentConnector3">
            <a:avLst>
              <a:gd fmla="val 5001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22"/>
          <p:cNvCxnSpPr>
            <a:stCxn id="164" idx="2"/>
            <a:endCxn id="168" idx="0"/>
          </p:cNvCxnSpPr>
          <p:nvPr/>
        </p:nvCxnSpPr>
        <p:spPr>
          <a:xfrm rot="5400000">
            <a:off x="1812301" y="885799"/>
            <a:ext cx="209100" cy="2502900"/>
          </a:xfrm>
          <a:prstGeom prst="bentConnector3">
            <a:avLst>
              <a:gd fmla="val 5001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2"/>
          <p:cNvCxnSpPr>
            <a:stCxn id="164" idx="2"/>
            <a:endCxn id="170" idx="0"/>
          </p:cNvCxnSpPr>
          <p:nvPr/>
        </p:nvCxnSpPr>
        <p:spPr>
          <a:xfrm flipH="1" rot="-5400000">
            <a:off x="3064051" y="2136949"/>
            <a:ext cx="209100" cy="6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7" name="Google Shape;177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7659654" y="1855856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121130" l="0" r="0" t="-121130"/>
          <a:stretch/>
        </p:blipFill>
        <p:spPr>
          <a:xfrm>
            <a:off x="2778239" y="2472089"/>
            <a:ext cx="779916" cy="77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3015581" y="2978284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8246" y="3784156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1853936" y="3531979"/>
            <a:ext cx="106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2"/>
          <p:cNvGrpSpPr/>
          <p:nvPr/>
        </p:nvGrpSpPr>
        <p:grpSpPr>
          <a:xfrm>
            <a:off x="1998264" y="3759227"/>
            <a:ext cx="779916" cy="779916"/>
            <a:chOff x="7024176" y="2229808"/>
            <a:chExt cx="1270636" cy="1270636"/>
          </a:xfrm>
        </p:grpSpPr>
        <p:pic>
          <p:nvPicPr>
            <p:cNvPr id="183" name="Google Shape;183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83849" y="3058829"/>
              <a:ext cx="214761" cy="2147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2"/>
            <p:cNvPicPr preferRelativeResize="0"/>
            <p:nvPr/>
          </p:nvPicPr>
          <p:blipFill rotWithShape="1">
            <a:blip r:embed="rId3">
              <a:alphaModFix/>
            </a:blip>
            <a:srcRect b="121130" l="0" r="0" t="-121130"/>
            <a:stretch/>
          </p:blipFill>
          <p:spPr>
            <a:xfrm>
              <a:off x="7024176" y="2229808"/>
              <a:ext cx="1270636" cy="12706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553" y="3762253"/>
            <a:ext cx="779965" cy="77996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3714732" y="3510222"/>
            <a:ext cx="135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b="121130" l="0" r="0" t="-121130"/>
          <a:stretch/>
        </p:blipFill>
        <p:spPr>
          <a:xfrm>
            <a:off x="4004396" y="3977311"/>
            <a:ext cx="779916" cy="779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4229681" y="4242367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2999202" y="1739620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5731781" y="2978484"/>
            <a:ext cx="131826" cy="13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 rotWithShape="1">
          <a:blip r:embed="rId5">
            <a:alphaModFix/>
          </a:blip>
          <a:srcRect b="16325" l="0" r="8584" t="0"/>
          <a:stretch/>
        </p:blipFill>
        <p:spPr>
          <a:xfrm>
            <a:off x="481031" y="2978484"/>
            <a:ext cx="131826" cy="1325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2"/>
          <p:cNvCxnSpPr>
            <a:stCxn id="178" idx="2"/>
            <a:endCxn id="186" idx="0"/>
          </p:cNvCxnSpPr>
          <p:nvPr/>
        </p:nvCxnSpPr>
        <p:spPr>
          <a:xfrm flipH="1" rot="-5400000">
            <a:off x="3652247" y="2767955"/>
            <a:ext cx="258300" cy="1226400"/>
          </a:xfrm>
          <a:prstGeom prst="bentConnector3">
            <a:avLst>
              <a:gd fmla="val 3969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22"/>
          <p:cNvCxnSpPr>
            <a:stCxn id="178" idx="2"/>
            <a:endCxn id="181" idx="0"/>
          </p:cNvCxnSpPr>
          <p:nvPr/>
        </p:nvCxnSpPr>
        <p:spPr>
          <a:xfrm rot="5400000">
            <a:off x="2638247" y="3001955"/>
            <a:ext cx="279900" cy="780000"/>
          </a:xfrm>
          <a:prstGeom prst="bentConnector3">
            <a:avLst>
              <a:gd fmla="val 3662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2"/>
          <p:cNvSpPr txBox="1"/>
          <p:nvPr/>
        </p:nvSpPr>
        <p:spPr>
          <a:xfrm>
            <a:off x="7294664" y="2115453"/>
            <a:ext cx="1870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bert_base_uncased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distillibert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openai_gpt1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openai_gpt2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roberta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results.ipynb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run_all_training.ipynb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tables_templates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202983" y="3173007"/>
            <a:ext cx="1722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experiment.py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metrics.py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visualizations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flajzik_classification_2024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│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│   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plots.py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tables.py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3558175" y="2494850"/>
            <a:ext cx="12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data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data_classes.py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dataset.py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preprocessing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1942725" y="451000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EUvsDisinfo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euvsdisinfo.csv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euvsdisinfo.ipynb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ISOT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isot.csv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isot.ipynb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ReCOVery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recovery.csv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recovery.ipynb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cz_dataset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cz_dataset.csv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cz_dataset.ipynb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3919050" y="4436100"/>
            <a:ext cx="3000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cleaning.py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encoders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encoders.py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flajzik_classification_2024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├── czech_stemmer.py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│   └── preprocessing_functions.py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pipelines.py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tokenization.py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transformations.py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5472800" y="3253125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transformers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base.py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bert_based_models.py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callbacks.py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├── openai_gpt_models.py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└── trainer.py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3456900" y="1242563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__init__.py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experiments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local_datasets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├── models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└── utils.py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922000" y="6468000"/>
            <a:ext cx="69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assets, images, templates and helper files are excluded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Experiments and monitoring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of the results</a:t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962" y="1410200"/>
            <a:ext cx="8406076" cy="508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Presentation of the results</a:t>
            </a:r>
            <a:endParaRPr/>
          </a:p>
        </p:txBody>
      </p:sp>
      <p:pic>
        <p:nvPicPr>
          <p:cNvPr id="213" name="Google Shape;21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3562" y="3868894"/>
            <a:ext cx="2732550" cy="226393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1462950" y="3013000"/>
            <a:ext cx="62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Results for the best model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1498750" y="1402163"/>
            <a:ext cx="61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Results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for 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ReCOVery Dataset: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247" y="3819075"/>
            <a:ext cx="2968253" cy="22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025" y="3690950"/>
            <a:ext cx="1915400" cy="170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473" y="5527173"/>
            <a:ext cx="1858501" cy="6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3726310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7107047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6451" y="1984025"/>
            <a:ext cx="4465485" cy="9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Presentation of the results</a:t>
            </a:r>
            <a:endParaRPr/>
          </a:p>
        </p:txBody>
      </p:sp>
      <p:pic>
        <p:nvPicPr>
          <p:cNvPr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3562" y="3868894"/>
            <a:ext cx="2732550" cy="226393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1462950" y="3013000"/>
            <a:ext cx="621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Results for the best model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5"/>
          <p:cNvSpPr txBox="1"/>
          <p:nvPr/>
        </p:nvSpPr>
        <p:spPr>
          <a:xfrm>
            <a:off x="1498750" y="1402163"/>
            <a:ext cx="614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Results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for 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ReCOVery Dataset: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33247" y="3819075"/>
            <a:ext cx="2968253" cy="226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025" y="3690950"/>
            <a:ext cx="1915400" cy="170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473" y="5527173"/>
            <a:ext cx="1858501" cy="60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3726310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7107047" y="3591267"/>
            <a:ext cx="134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 Curve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66451" y="1984025"/>
            <a:ext cx="4465485" cy="9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979463" y="6299575"/>
            <a:ext cx="694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hyperparameters tables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ROC </a:t>
            </a:r>
            <a:r>
              <a:rPr b="1" lang="en-US" sz="1200">
                <a:solidFill>
                  <a:schemeClr val="dk1"/>
                </a:solidFill>
              </a:rPr>
              <a:t>Curves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200">
                <a:solidFill>
                  <a:schemeClr val="dk1"/>
                </a:solidFill>
              </a:rPr>
              <a:t>Confusion matrices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can be found only in the source code repository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with the previous work</a:t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725" y="2026325"/>
            <a:ext cx="2828024" cy="7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389725" y="1492325"/>
            <a:ext cx="93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5064525" y="1492325"/>
            <a:ext cx="1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389725" y="3847650"/>
            <a:ext cx="15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EUvsDisinfo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5064525" y="3847650"/>
            <a:ext cx="193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Czech Dataset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5925" y="4386670"/>
            <a:ext cx="2828026" cy="759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3075" y="4388875"/>
            <a:ext cx="2801323" cy="7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3025" y="2026326"/>
            <a:ext cx="2813828" cy="7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6963" y="2957304"/>
            <a:ext cx="4032323" cy="84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3075" y="5357600"/>
            <a:ext cx="4003448" cy="8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75925" y="5349376"/>
            <a:ext cx="4046775" cy="838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79375" y="2952700"/>
            <a:ext cx="4003449" cy="84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with the previous work</a:t>
            </a:r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 model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83,5%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with the previous work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83,5%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97%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CNN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with the previous work</a:t>
            </a:r>
            <a:endParaRPr/>
          </a:p>
        </p:txBody>
      </p:sp>
      <p:sp>
        <p:nvSpPr>
          <p:cNvPr id="271" name="Google Shape;271;p29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83,5%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97%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CNN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EUvsDisinfo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95,1%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LSTM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Comparing results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with the previous work</a:t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983225" y="1438325"/>
            <a:ext cx="7075800" cy="49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ISOT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83,5%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ReCOVery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99,5%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97%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CNN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EUvsDisinfo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95,1%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LSTM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b="1" lang="en-US" sz="2000">
                <a:solidFill>
                  <a:schemeClr val="dk1"/>
                </a:solidFill>
              </a:rPr>
              <a:t>Czech Dataset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-US" sz="2000">
                <a:solidFill>
                  <a:schemeClr val="dk1"/>
                </a:solidFill>
              </a:rPr>
              <a:t>Best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model: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DistilBERT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92% </a:t>
            </a:r>
            <a:r>
              <a:rPr b="1" lang="en-US" sz="2000">
                <a:solidFill>
                  <a:schemeClr val="dk1"/>
                </a:solidFill>
              </a:rPr>
              <a:t>vs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89,9%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</a:rPr>
              <a:t>with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Naive Bayes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339400" y="170025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83" name="Google Shape;283;p31"/>
          <p:cNvSpPr txBox="1"/>
          <p:nvPr>
            <p:ph idx="1" type="body"/>
          </p:nvPr>
        </p:nvSpPr>
        <p:spPr>
          <a:xfrm>
            <a:off x="846925" y="1536429"/>
            <a:ext cx="7794000" cy="50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Experiments with advanced models were conducted and compared to the predecessor’s work results</a:t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Some insights on how to improve performance of the models were taken: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Solve the problem with limited input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Focus on smaller models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Try Mixture of Experts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Try Claim extraction + Retrieval + Evidence ranking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Try other, “harder” datasets</a:t>
            </a:r>
            <a:endParaRPr/>
          </a:p>
          <a:p>
            <a:pPr indent="-355600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Focus on usage in open source a control of alignment.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/>
              <a:t>Framework for conducting experiments is created, it needs only an extension of models and preprocessing methods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339400" y="2885100"/>
            <a:ext cx="84621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Thank you for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iv Office">
  <a:themeElements>
    <a:clrScheme name="Motiv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